
<file path=[Content_Types].xml><?xml version="1.0" encoding="utf-8"?>
<Types xmlns="http://schemas.openxmlformats.org/package/2006/content-types">
  <Default Extension="jfif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292" r:id="rId5"/>
    <p:sldId id="299" r:id="rId6"/>
    <p:sldId id="297" r:id="rId7"/>
    <p:sldId id="261" r:id="rId8"/>
    <p:sldId id="301" r:id="rId9"/>
    <p:sldId id="304" r:id="rId10"/>
    <p:sldId id="303" r:id="rId11"/>
    <p:sldId id="302" r:id="rId12"/>
    <p:sldId id="298" r:id="rId13"/>
    <p:sldId id="293" r:id="rId14"/>
    <p:sldId id="305" r:id="rId15"/>
    <p:sldId id="306" r:id="rId16"/>
    <p:sldId id="307" r:id="rId17"/>
    <p:sldId id="300" r:id="rId18"/>
    <p:sldId id="269" r:id="rId19"/>
    <p:sldId id="295" r:id="rId20"/>
    <p:sldId id="308" r:id="rId21"/>
    <p:sldId id="309" r:id="rId22"/>
    <p:sldId id="310" r:id="rId23"/>
    <p:sldId id="311" r:id="rId24"/>
    <p:sldId id="289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018" autoAdjust="0"/>
    <p:restoredTop sz="94839" autoAdjust="0"/>
  </p:normalViewPr>
  <p:slideViewPr>
    <p:cSldViewPr snapToGrid="0" showGuides="1">
      <p:cViewPr varScale="1">
        <p:scale>
          <a:sx n="95" d="100"/>
          <a:sy n="95" d="100"/>
        </p:scale>
        <p:origin x="114" y="930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7/25/2026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7/25/2026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681593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CA605-D804-5DC4-B471-C488D036C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BE32C0-B3DD-8E05-5273-816724E86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96B3AD-B049-7271-D5F1-0AAFBDDFE1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167A2-8E28-0C16-9C1D-67479BEEE5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6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2213735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10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0938003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38E2D-A508-A821-BE22-ABB2627F8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764AC-F18F-E0FD-3820-852F2F00AB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25C7A2-87A0-D7EB-ABED-FC964FEB57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C559A5-0850-8316-A37A-8C51143B57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9683026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6C57E-D31E-5FAB-7A4B-94D6AD67D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F618C3-7C46-206F-D24E-A535F6A16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CC737E-5128-00A0-90AD-B63A8FE0CB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AD3463-40E1-6341-1352-414FCC1C05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3858217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F7BD8-E67A-7DCE-39E4-2AF468ED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59D9F9-74FD-A8B8-FB2A-CBD54096E5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8351FF-EBC1-52D8-0389-DBAD1A95B0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F1F3EA-1B94-0962-D321-F871FF9984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13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42751932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16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243314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3CE773-CF0A-131A-8BAA-2490120B2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F28F81-509F-7109-6486-351AEA8A94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F4146-ED39-39E1-2E15-F69F396F2B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94D290-8C6F-F645-1867-694962F361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18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0715569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21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18182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820F9CA-E84D-E159-524A-398712EC6AFE}"/>
              </a:ext>
            </a:extLst>
          </p:cNvPr>
          <p:cNvGrpSpPr/>
          <p:nvPr userDrawn="1"/>
        </p:nvGrpSpPr>
        <p:grpSpPr>
          <a:xfrm>
            <a:off x="879765" y="-10376"/>
            <a:ext cx="10794247" cy="1864808"/>
            <a:chOff x="879765" y="-10376"/>
            <a:chExt cx="10794247" cy="1864808"/>
          </a:xfrm>
        </p:grpSpPr>
        <p:sp>
          <p:nvSpPr>
            <p:cNvPr id="12" name="Freeform: Shape 12">
              <a:extLst>
                <a:ext uri="{FF2B5EF4-FFF2-40B4-BE49-F238E27FC236}">
                  <a16:creationId xmlns:a16="http://schemas.microsoft.com/office/drawing/2014/main" id="{7674207A-3643-0D40-E3B5-F11FCACBAA74}"/>
                </a:ext>
              </a:extLst>
            </p:cNvPr>
            <p:cNvSpPr/>
            <p:nvPr/>
          </p:nvSpPr>
          <p:spPr>
            <a:xfrm>
              <a:off x="8893126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9619B847-88FE-63C2-96AC-161C08F5934F}"/>
                </a:ext>
              </a:extLst>
            </p:cNvPr>
            <p:cNvSpPr/>
            <p:nvPr/>
          </p:nvSpPr>
          <p:spPr>
            <a:xfrm>
              <a:off x="5985740" y="345168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228172F9-6711-D31B-2F7B-A4ECDEAB360C}"/>
                </a:ext>
              </a:extLst>
            </p:cNvPr>
            <p:cNvSpPr/>
            <p:nvPr/>
          </p:nvSpPr>
          <p:spPr>
            <a:xfrm>
              <a:off x="5255120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1732E38F-F657-48F0-5783-63C7EDB52F87}"/>
                </a:ext>
              </a:extLst>
            </p:cNvPr>
            <p:cNvSpPr/>
            <p:nvPr/>
          </p:nvSpPr>
          <p:spPr>
            <a:xfrm>
              <a:off x="6710252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0" name="Freeform: Shape 12">
              <a:extLst>
                <a:ext uri="{FF2B5EF4-FFF2-40B4-BE49-F238E27FC236}">
                  <a16:creationId xmlns:a16="http://schemas.microsoft.com/office/drawing/2014/main" id="{601F8F38-CEFA-8374-19C9-69BA4F7D10DF}"/>
                </a:ext>
              </a:extLst>
            </p:cNvPr>
            <p:cNvSpPr/>
            <p:nvPr/>
          </p:nvSpPr>
          <p:spPr>
            <a:xfrm>
              <a:off x="1610385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11" name="Freeform 9">
              <a:extLst>
                <a:ext uri="{FF2B5EF4-FFF2-40B4-BE49-F238E27FC236}">
                  <a16:creationId xmlns:a16="http://schemas.microsoft.com/office/drawing/2014/main" id="{0659428E-002A-3B5E-D9E8-A2B206826D40}"/>
                </a:ext>
              </a:extLst>
            </p:cNvPr>
            <p:cNvSpPr/>
            <p:nvPr/>
          </p:nvSpPr>
          <p:spPr>
            <a:xfrm>
              <a:off x="879765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3F6BB30-EA63-53B6-1493-0B0220BC1FF8}"/>
                </a:ext>
              </a:extLst>
            </p:cNvPr>
            <p:cNvSpPr/>
            <p:nvPr/>
          </p:nvSpPr>
          <p:spPr>
            <a:xfrm>
              <a:off x="2336512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3B6E5B6F-28D6-E7F3-B009-0B5623E38F22}"/>
                </a:ext>
              </a:extLst>
            </p:cNvPr>
            <p:cNvSpPr/>
            <p:nvPr/>
          </p:nvSpPr>
          <p:spPr>
            <a:xfrm>
              <a:off x="8160084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817D92F-B8AA-2300-DC90-9AA1D5E54408}"/>
                </a:ext>
              </a:extLst>
            </p:cNvPr>
            <p:cNvSpPr/>
            <p:nvPr/>
          </p:nvSpPr>
          <p:spPr>
            <a:xfrm>
              <a:off x="9615216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2">
              <a:extLst>
                <a:ext uri="{FF2B5EF4-FFF2-40B4-BE49-F238E27FC236}">
                  <a16:creationId xmlns:a16="http://schemas.microsoft.com/office/drawing/2014/main" id="{F40AC1C2-6632-AEFE-E7DF-2E1BB06D857A}"/>
                </a:ext>
              </a:extLst>
            </p:cNvPr>
            <p:cNvSpPr/>
            <p:nvPr/>
          </p:nvSpPr>
          <p:spPr>
            <a:xfrm>
              <a:off x="10342958" y="32052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2487168"/>
            <a:ext cx="4572000" cy="33832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7920" y="2487168"/>
            <a:ext cx="5029200" cy="33832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78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 noProof="0"/>
              <a:t>Click to edit Master text styles</a:t>
            </a:r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7671816" cy="2103120"/>
          </a:xfrm>
        </p:spPr>
        <p:txBody>
          <a:bodyPr anchor="b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296AFE-5FB8-52A4-3111-3B53DBE4DB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14400" y="3200400"/>
            <a:ext cx="10149840" cy="28346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reeform: Shape 12">
            <a:extLst>
              <a:ext uri="{FF2B5EF4-FFF2-40B4-BE49-F238E27FC236}">
                <a16:creationId xmlns:a16="http://schemas.microsoft.com/office/drawing/2014/main" id="{809C5320-0161-C582-141C-55F06D4F3BAE}"/>
              </a:ext>
            </a:extLst>
          </p:cNvPr>
          <p:cNvSpPr/>
          <p:nvPr userDrawn="1"/>
        </p:nvSpPr>
        <p:spPr>
          <a:xfrm>
            <a:off x="8893126" y="35193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9C982F3-4477-76AC-0429-350585A39FFA}"/>
              </a:ext>
            </a:extLst>
          </p:cNvPr>
          <p:cNvSpPr/>
          <p:nvPr userDrawn="1"/>
        </p:nvSpPr>
        <p:spPr>
          <a:xfrm>
            <a:off x="5255120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87A8F7B2-0552-AAD4-9DE2-845DE10CA10A}"/>
              </a:ext>
            </a:extLst>
          </p:cNvPr>
          <p:cNvSpPr/>
          <p:nvPr userDrawn="1"/>
        </p:nvSpPr>
        <p:spPr>
          <a:xfrm>
            <a:off x="6710252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395DA7FF-BAA0-F04C-CA6C-16E9C2D55593}"/>
              </a:ext>
            </a:extLst>
          </p:cNvPr>
          <p:cNvSpPr/>
          <p:nvPr userDrawn="1"/>
        </p:nvSpPr>
        <p:spPr>
          <a:xfrm>
            <a:off x="879765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68D9CEC-53B7-B8DC-B77E-E3F86681879C}"/>
              </a:ext>
            </a:extLst>
          </p:cNvPr>
          <p:cNvSpPr/>
          <p:nvPr userDrawn="1"/>
        </p:nvSpPr>
        <p:spPr>
          <a:xfrm>
            <a:off x="2336512" y="-9525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222D4D6-56B1-C4C3-0E51-FB22F0CD902B}"/>
              </a:ext>
            </a:extLst>
          </p:cNvPr>
          <p:cNvSpPr/>
          <p:nvPr userDrawn="1"/>
        </p:nvSpPr>
        <p:spPr>
          <a:xfrm>
            <a:off x="8160084" y="-10376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E6292F0-9E78-C98C-097B-30DEBBC1B179}"/>
              </a:ext>
            </a:extLst>
          </p:cNvPr>
          <p:cNvSpPr/>
          <p:nvPr userDrawn="1"/>
        </p:nvSpPr>
        <p:spPr>
          <a:xfrm>
            <a:off x="9615216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2">
            <a:extLst>
              <a:ext uri="{FF2B5EF4-FFF2-40B4-BE49-F238E27FC236}">
                <a16:creationId xmlns:a16="http://schemas.microsoft.com/office/drawing/2014/main" id="{315817B3-76DB-FDD0-60F7-E385C0E84F58}"/>
              </a:ext>
            </a:extLst>
          </p:cNvPr>
          <p:cNvSpPr/>
          <p:nvPr userDrawn="1"/>
        </p:nvSpPr>
        <p:spPr>
          <a:xfrm>
            <a:off x="10342958" y="32052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</p:spTree>
    <p:extLst>
      <p:ext uri="{BB962C8B-B14F-4D97-AF65-F5344CB8AC3E}">
        <p14:creationId xmlns:p14="http://schemas.microsoft.com/office/powerpoint/2010/main" val="3891712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/>
              <a:t>Click icon to add picture</a:t>
            </a:r>
            <a:endParaRPr lang="en-US" altLang="zh-CN" noProof="0" dirty="0"/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70" r:id="rId4"/>
    <p:sldLayoutId id="2147483669" r:id="rId5"/>
    <p:sldLayoutId id="2147483655" r:id="rId6"/>
    <p:sldLayoutId id="2147483651" r:id="rId7"/>
    <p:sldLayoutId id="2147483662" r:id="rId8"/>
    <p:sldLayoutId id="2147483673" r:id="rId9"/>
    <p:sldLayoutId id="2147483653" r:id="rId10"/>
    <p:sldLayoutId id="2147483663" r:id="rId11"/>
    <p:sldLayoutId id="2147483665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fif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fif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358284" cy="2743200"/>
          </a:xfrm>
        </p:spPr>
        <p:txBody>
          <a:bodyPr lIns="0" anchor="t" anchorCtr="0">
            <a:normAutofit/>
          </a:bodyPr>
          <a:lstStyle/>
          <a:p>
            <a:r>
              <a:rPr lang="en-US" altLang="zh-CN" dirty="0"/>
              <a:t>Three-Tier Cloud Architecture Deployment</a:t>
            </a:r>
            <a:endParaRPr lang="en-US" dirty="0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2C0CA6A3-5752-AD04-9C71-D3E8462A5932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34777" r="32444"/>
          <a:stretch>
            <a:fillRect/>
          </a:stretch>
        </p:blipFill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noFill/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</p:spPr>
        <p:txBody>
          <a:bodyPr anchor="b">
            <a:normAutofit/>
          </a:bodyPr>
          <a:lstStyle/>
          <a:p>
            <a:r>
              <a:rPr lang="en-US" dirty="0"/>
              <a:t>Julio Cesar Aldana Almanza</a:t>
            </a:r>
          </a:p>
        </p:txBody>
      </p:sp>
    </p:spTree>
    <p:extLst>
      <p:ext uri="{BB962C8B-B14F-4D97-AF65-F5344CB8AC3E}">
        <p14:creationId xmlns:p14="http://schemas.microsoft.com/office/powerpoint/2010/main" val="3898447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F021C-3CEB-0FBA-DA89-C9C82E741B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 anchorCtr="0"/>
          <a:lstStyle/>
          <a:p>
            <a:r>
              <a:rPr lang="en-US" dirty="0"/>
              <a:t>Agenda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6746B3-AFD9-641E-7CBF-9A783646B368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014127" y="3429000"/>
            <a:ext cx="3855236" cy="2378075"/>
          </a:xfrm>
        </p:spPr>
        <p:txBody>
          <a:bodyPr anchor="t" anchorCtr="0">
            <a:normAutofit/>
          </a:bodyPr>
          <a:lstStyle/>
          <a:p>
            <a:r>
              <a:rPr lang="en-US" dirty="0"/>
              <a:t>Architecture Overview</a:t>
            </a:r>
          </a:p>
          <a:p>
            <a:r>
              <a:rPr lang="en-US" dirty="0"/>
              <a:t>Challenges &amp; Solutions</a:t>
            </a:r>
          </a:p>
          <a:p>
            <a:r>
              <a:rPr lang="en-US" dirty="0"/>
              <a:t>Cost Analysis</a:t>
            </a:r>
          </a:p>
          <a:p>
            <a:r>
              <a:rPr lang="en-US" dirty="0"/>
              <a:t>Improvements &amp; Next Steps</a:t>
            </a:r>
          </a:p>
          <a:p>
            <a:r>
              <a:rPr lang="en-US" dirty="0"/>
              <a:t>Live Demo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59569-83D5-A20B-653C-B9D6C8D98164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2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485080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2A73C-F597-27B7-8F29-D6406DC4D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lIns="0" anchor="b" anchorCtr="0"/>
          <a:lstStyle/>
          <a:p>
            <a:r>
              <a:rPr lang="en-US" dirty="0"/>
              <a:t>Three-Tier 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90503-C2C6-37F4-4636-9B4A8A3DE4EB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</p:spPr>
        <p:txBody>
          <a:bodyPr/>
          <a:lstStyle/>
          <a:p>
            <a:r>
              <a:rPr lang="en-US" dirty="0"/>
              <a:t>Virtual Private Cloud</a:t>
            </a:r>
          </a:p>
        </p:txBody>
      </p:sp>
    </p:spTree>
    <p:extLst>
      <p:ext uri="{BB962C8B-B14F-4D97-AF65-F5344CB8AC3E}">
        <p14:creationId xmlns:p14="http://schemas.microsoft.com/office/powerpoint/2010/main" val="35301119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4572000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Network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922179"/>
            <a:ext cx="5029200" cy="3383280"/>
          </a:xfrm>
          <a:noFill/>
        </p:spPr>
        <p:txBody>
          <a:bodyPr>
            <a:normAutofit fontScale="77500" lnSpcReduction="20000"/>
          </a:bodyPr>
          <a:lstStyle/>
          <a:p>
            <a:r>
              <a:rPr lang="en-US" dirty="0"/>
              <a:t>VPC: 10.0.0.0/16</a:t>
            </a:r>
          </a:p>
          <a:p>
            <a:r>
              <a:rPr lang="en-US" dirty="0"/>
              <a:t>Presentation Subnets (Public): </a:t>
            </a:r>
          </a:p>
          <a:p>
            <a:pPr lvl="1"/>
            <a:r>
              <a:rPr lang="en-US" dirty="0"/>
              <a:t>AZ 1: 10.0.1.0/24</a:t>
            </a:r>
          </a:p>
          <a:p>
            <a:pPr lvl="1"/>
            <a:r>
              <a:rPr lang="en-US" dirty="0"/>
              <a:t>AZ 2: 10.0.2.0/24</a:t>
            </a:r>
          </a:p>
          <a:p>
            <a:r>
              <a:rPr lang="en-US" dirty="0"/>
              <a:t>Application Subnets (Private):</a:t>
            </a:r>
          </a:p>
          <a:p>
            <a:pPr lvl="1"/>
            <a:r>
              <a:rPr lang="en-US" dirty="0"/>
              <a:t>AZ 1: 10.0.11.0/24</a:t>
            </a:r>
          </a:p>
          <a:p>
            <a:pPr lvl="1"/>
            <a:r>
              <a:rPr lang="en-US" dirty="0"/>
              <a:t>AZ 2: 10.0.12.0/24</a:t>
            </a:r>
          </a:p>
          <a:p>
            <a:r>
              <a:rPr lang="en-US" dirty="0"/>
              <a:t> Data Subnets (Private): </a:t>
            </a:r>
          </a:p>
          <a:p>
            <a:pPr lvl="1"/>
            <a:r>
              <a:rPr lang="en-US" dirty="0"/>
              <a:t>AZ 1: 10.0.21.0/24</a:t>
            </a:r>
          </a:p>
          <a:p>
            <a:pPr lvl="1"/>
            <a:r>
              <a:rPr lang="en-US" dirty="0"/>
              <a:t>AZ 2: 10.0.22.0/24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4AF3B-CC38-C6F7-1058-2FC5EE48D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BFB171-B2A9-94CB-0CEB-EE4F066B8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973" y="1092441"/>
            <a:ext cx="4725788" cy="5404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2C3428-5DA9-9D27-C7B1-DAAE5CC01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56C88-2852-9248-FA45-F4B0884AA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4572000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Traffic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1B58C8-82CC-DC18-57AF-37A293472A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799" y="2922179"/>
            <a:ext cx="5815693" cy="3383280"/>
          </a:xfrm>
          <a:noFill/>
        </p:spPr>
        <p:txBody>
          <a:bodyPr>
            <a:normAutofit fontScale="70000" lnSpcReduction="20000"/>
          </a:bodyPr>
          <a:lstStyle/>
          <a:p>
            <a:r>
              <a:rPr lang="en-US" dirty="0"/>
              <a:t>Internet Gateway: allow traffic from outside to VPC</a:t>
            </a:r>
          </a:p>
          <a:p>
            <a:r>
              <a:rPr lang="en-US" dirty="0"/>
              <a:t>Presentation Tier: </a:t>
            </a:r>
          </a:p>
          <a:p>
            <a:pPr lvl="1"/>
            <a:r>
              <a:rPr lang="en-US" dirty="0"/>
              <a:t>Allows HTTP requests from IGW (Port 80)</a:t>
            </a:r>
          </a:p>
          <a:p>
            <a:pPr lvl="1"/>
            <a:r>
              <a:rPr lang="en-US" dirty="0"/>
              <a:t>NAT Gateway attached to allow outbound requests from app-tier</a:t>
            </a:r>
          </a:p>
          <a:p>
            <a:r>
              <a:rPr lang="en-US" dirty="0"/>
              <a:t>Application Tier:</a:t>
            </a:r>
          </a:p>
          <a:p>
            <a:pPr lvl="1"/>
            <a:r>
              <a:rPr lang="en-US" dirty="0"/>
              <a:t>Receives HTTP request from presentation tier only (Port 8080)</a:t>
            </a:r>
          </a:p>
          <a:p>
            <a:pPr lvl="1"/>
            <a:r>
              <a:rPr lang="en-US" dirty="0"/>
              <a:t>Outbound traffic allowed through NAT Gateway for package downloads</a:t>
            </a:r>
          </a:p>
          <a:p>
            <a:r>
              <a:rPr lang="en-US" dirty="0"/>
              <a:t>Data Tier </a:t>
            </a:r>
          </a:p>
          <a:p>
            <a:pPr lvl="1"/>
            <a:r>
              <a:rPr lang="en-US" dirty="0"/>
              <a:t>Isolated from Outside: receives request from app tier only (MySQL:3306 and PostgreSQL:5432)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8CF15-AA86-6BD2-3A83-8ED4DA24D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5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A34DF4E-1DAF-4B6A-47A8-28A39899EE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3492" y="1133487"/>
            <a:ext cx="3415393" cy="5277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21284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CEF49B-EE1B-BAB6-8612-EA44ED27D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C12879A3-47BD-CD78-1195-ED1680E2A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149" y="556961"/>
            <a:ext cx="7132320" cy="697758"/>
          </a:xfrm>
        </p:spPr>
        <p:txBody>
          <a:bodyPr/>
          <a:lstStyle/>
          <a:p>
            <a:r>
              <a:rPr lang="en-US" dirty="0"/>
              <a:t>Security Groups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F2E83232-D5BF-7E07-1335-ABF53BF595F4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87CCF78-FE0E-3118-C10D-CC1421122042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6</a:t>
            </a:fld>
            <a:endParaRPr lang="en-US" altLang="zh-CN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9807D6-2551-24A2-C6DD-42FDACC06E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7570" y="1406512"/>
            <a:ext cx="3663393" cy="42475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F610C4-EA0C-BB1D-4A95-C9B1B526BF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403" y="1449218"/>
            <a:ext cx="4134426" cy="98507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D5068DA-4FFF-C74D-2191-A247BFE61B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401" y="2628788"/>
            <a:ext cx="4134427" cy="147783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0464B5B-FC1C-6257-6C6C-D9190C2F5E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7330" y="2628788"/>
            <a:ext cx="3338737" cy="192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9D367B-F8DE-0D72-68E0-BBD16172494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401" y="4301124"/>
            <a:ext cx="4134427" cy="1729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1645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DC3EE-1F4D-E57D-A611-CE8A82B6B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4E511E-46A9-D51B-9B4C-AE331986C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073729"/>
            <a:ext cx="4572000" cy="3796719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Security Groups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8F8E2-006E-3009-D593-5F46553AD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0ED033-F45A-F38F-0934-9F74D8F10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7715" y="1406512"/>
            <a:ext cx="3663393" cy="42475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41F6A2-5AC8-D2D9-4F21-A6C82A71C7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02" y="2849068"/>
            <a:ext cx="4868039" cy="115986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85C0C65-721F-D794-25F8-B85E801E3A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402" y="4111844"/>
            <a:ext cx="4477375" cy="1600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69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782CA-FA12-1472-7AAF-35E217470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D4419-38A3-608A-8ACA-ED8C39C2B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718269"/>
            <a:ext cx="4364334" cy="4152180"/>
          </a:xfrm>
          <a:noFill/>
        </p:spPr>
        <p:txBody>
          <a:bodyPr anchor="t" anchorCtr="0">
            <a:noAutofit/>
          </a:bodyPr>
          <a:lstStyle/>
          <a:p>
            <a:r>
              <a:rPr lang="en-US" dirty="0"/>
              <a:t>Three-Tier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0452B1-6187-1965-51E1-B3B69C2495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799" y="2922179"/>
            <a:ext cx="5423807" cy="3383280"/>
          </a:xfrm>
          <a:noFill/>
        </p:spPr>
        <p:txBody>
          <a:bodyPr>
            <a:normAutofit lnSpcReduction="10000"/>
          </a:bodyPr>
          <a:lstStyle/>
          <a:p>
            <a:r>
              <a:rPr lang="en-US" dirty="0"/>
              <a:t>Presentation Subnets </a:t>
            </a:r>
          </a:p>
          <a:p>
            <a:r>
              <a:rPr lang="en-US" dirty="0"/>
              <a:t>Application Subnets</a:t>
            </a:r>
          </a:p>
          <a:p>
            <a:r>
              <a:rPr lang="en-US" dirty="0"/>
              <a:t>Data Subnets</a:t>
            </a:r>
          </a:p>
          <a:p>
            <a:r>
              <a:rPr lang="en-US" dirty="0"/>
              <a:t>Bastion</a:t>
            </a:r>
          </a:p>
          <a:p>
            <a:r>
              <a:rPr lang="en-US" dirty="0"/>
              <a:t>Internet Gateway</a:t>
            </a:r>
          </a:p>
          <a:p>
            <a:r>
              <a:rPr lang="en-US" dirty="0"/>
              <a:t>NAT Gateway</a:t>
            </a:r>
          </a:p>
          <a:p>
            <a:r>
              <a:rPr lang="en-US" dirty="0"/>
              <a:t>Load Balancer</a:t>
            </a:r>
          </a:p>
          <a:p>
            <a:r>
              <a:rPr lang="en-US" dirty="0"/>
              <a:t>Target Group</a:t>
            </a:r>
          </a:p>
          <a:p>
            <a:endParaRPr lang="en-US" dirty="0"/>
          </a:p>
          <a:p>
            <a:pPr marL="384048" lvl="1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159449-18EC-7C50-DDCE-160B3BF37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8F651B-782B-D79F-E1AF-99929B73CB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421" y="602198"/>
            <a:ext cx="6439482" cy="57032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31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A61EC-5F42-6AB8-DF35-480F07028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382" y="2220686"/>
            <a:ext cx="4845817" cy="3722914"/>
          </a:xfrm>
        </p:spPr>
        <p:txBody>
          <a:bodyPr lIns="0" anchor="t" anchorCtr="0"/>
          <a:lstStyle/>
          <a:p>
            <a:r>
              <a:rPr lang="en-US" dirty="0"/>
              <a:t>Challenges &amp; Solutions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2C499B3D-83D7-93D8-87CB-D304865A3244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2"/>
          <a:srcRect l="21800" r="21800"/>
          <a:stretch>
            <a:fillRect/>
          </a:stretch>
        </p:blipFill>
        <p:spPr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735087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0031CE36-F77D-3964-C169-771DBA49D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555825"/>
          </a:xfrm>
        </p:spPr>
        <p:txBody>
          <a:bodyPr>
            <a:normAutofit fontScale="90000"/>
          </a:bodyPr>
          <a:lstStyle/>
          <a:p>
            <a:r>
              <a:rPr lang="en-US" dirty="0"/>
              <a:t>Application Instance stars unhealthy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520E98B6-7B33-8FD4-A662-31DD4B85E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771650"/>
            <a:ext cx="6817179" cy="710293"/>
          </a:xfrm>
        </p:spPr>
        <p:txBody>
          <a:bodyPr/>
          <a:lstStyle/>
          <a:p>
            <a:r>
              <a:rPr lang="en-US" dirty="0"/>
              <a:t>Application server is marked as unhealthy at the first start.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78466807-A2DA-EC5D-ACDE-B83D6F7169EA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1020535" y="4686300"/>
            <a:ext cx="8254093" cy="1632857"/>
          </a:xfrm>
        </p:spPr>
        <p:txBody>
          <a:bodyPr>
            <a:normAutofit/>
          </a:bodyPr>
          <a:lstStyle/>
          <a:p>
            <a:r>
              <a:rPr lang="en-US" sz="3200" b="1" dirty="0"/>
              <a:t>Solution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Run bash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npm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install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pg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</a:t>
            </a:r>
            <a:r>
              <a:rPr lang="en-US" sz="1600" dirty="0"/>
              <a:t>to install the dependency needed. 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Run bash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sudo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chmod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777 app.log </a:t>
            </a:r>
            <a:r>
              <a:rPr lang="en-US" sz="1600" dirty="0"/>
              <a:t>to allow edition of app.log file. </a:t>
            </a:r>
          </a:p>
          <a:p>
            <a:pPr>
              <a:spcBef>
                <a:spcPts val="600"/>
              </a:spcBef>
            </a:pPr>
            <a:r>
              <a:rPr lang="en-US" sz="1600" dirty="0"/>
              <a:t>Run the application using the command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sudo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sz="1200" dirty="0" err="1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nohup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node server.js &gt; app.log 2&gt;&amp;1 &amp;.</a:t>
            </a:r>
            <a:endParaRPr lang="en-US" sz="16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30FF33C-2E3C-37EC-75C2-1BE4513D9B62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22DE72-77CB-CB24-A4D1-2FAC47307AC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10</a:t>
            </a:fld>
            <a:endParaRPr lang="en-US" altLang="zh-CN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711349-552F-AFBF-5390-82AC959C3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223" y="2171700"/>
            <a:ext cx="5312741" cy="2422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148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02FC7-AB21-B039-F0FB-3EF1974C8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B1D53485-2BD3-0057-9173-E0DA839FF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555825"/>
          </a:xfrm>
        </p:spPr>
        <p:txBody>
          <a:bodyPr>
            <a:normAutofit fontScale="90000"/>
          </a:bodyPr>
          <a:lstStyle/>
          <a:p>
            <a:r>
              <a:rPr lang="en-US" dirty="0"/>
              <a:t>Application not running on restart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9FBC47D9-4E5A-0AD4-1ED9-F4B20089D2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771650"/>
            <a:ext cx="6817179" cy="710293"/>
          </a:xfrm>
        </p:spPr>
        <p:txBody>
          <a:bodyPr/>
          <a:lstStyle/>
          <a:p>
            <a:r>
              <a:rPr lang="en-US" dirty="0"/>
              <a:t>Application is not running again after restarting. A manual restart of the application is needed..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3C7881A2-F1A1-4C69-83E9-E23DC8787D03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914399" y="2530928"/>
            <a:ext cx="8360229" cy="555825"/>
          </a:xfrm>
        </p:spPr>
        <p:txBody>
          <a:bodyPr>
            <a:normAutofit/>
          </a:bodyPr>
          <a:lstStyle/>
          <a:p>
            <a:r>
              <a:rPr lang="en-US" sz="3200" b="1" dirty="0"/>
              <a:t>Solution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848E6BFE-2BB3-B86F-2060-1C16CDB36DBC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F8E237-9955-B45F-452A-EDC02FAFAC82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11</a:t>
            </a:fld>
            <a:endParaRPr lang="en-US" altLang="zh-C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4C4A89-760F-5EC9-383D-278B5186D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3135738"/>
            <a:ext cx="6457951" cy="330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760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86378-DCF5-D0B3-3573-F75CB8402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3A65C8D5-10F0-4AA7-16FB-ABB5CAB91F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555825"/>
          </a:xfrm>
        </p:spPr>
        <p:txBody>
          <a:bodyPr>
            <a:normAutofit fontScale="90000"/>
          </a:bodyPr>
          <a:lstStyle/>
          <a:p>
            <a:r>
              <a:rPr lang="en-US" dirty="0"/>
              <a:t>Host key verification failed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2C3D1BF0-D6C8-91EF-CA1F-B841F22480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771650"/>
            <a:ext cx="6817179" cy="710293"/>
          </a:xfrm>
        </p:spPr>
        <p:txBody>
          <a:bodyPr/>
          <a:lstStyle/>
          <a:p>
            <a:r>
              <a:rPr lang="en-US" dirty="0"/>
              <a:t>Database connection through bastion refused due to warning "Remote host identification has changed!"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2AF78A4B-325C-B4DE-8BF1-512F709C0F35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914399" y="4939393"/>
            <a:ext cx="8360229" cy="1510393"/>
          </a:xfrm>
        </p:spPr>
        <p:txBody>
          <a:bodyPr>
            <a:normAutofit/>
          </a:bodyPr>
          <a:lstStyle/>
          <a:p>
            <a:r>
              <a:rPr lang="en-US" sz="3200" b="1" dirty="0"/>
              <a:t>Solution</a:t>
            </a:r>
          </a:p>
          <a:p>
            <a:r>
              <a:rPr lang="en-US" dirty="0"/>
              <a:t>Run </a:t>
            </a:r>
            <a:r>
              <a:rPr lang="en-US" sz="1200" dirty="0"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ssh-keygen -R DB-PRIVATE-IP  </a:t>
            </a:r>
            <a:r>
              <a:rPr lang="en-US" dirty="0"/>
              <a:t>to remove any key that the </a:t>
            </a:r>
            <a:r>
              <a:rPr lang="en-US" dirty="0" err="1"/>
              <a:t>db</a:t>
            </a:r>
            <a:r>
              <a:rPr lang="en-US" dirty="0"/>
              <a:t> IP address may have attached.</a:t>
            </a:r>
            <a:endParaRPr lang="en-US" sz="3200" b="1" dirty="0"/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5D0B3CCF-4FC9-C757-CD82-CDFFD44AC6D2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562DED-B4F1-14AE-58D0-60F327E13763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12</a:t>
            </a:fld>
            <a:endParaRPr lang="en-US" altLang="zh-CN" noProof="0" dirty="0"/>
          </a:p>
        </p:txBody>
      </p:sp>
      <p:pic>
        <p:nvPicPr>
          <p:cNvPr id="3" name="Picture 2" descr="ts-host-key-changed.png">
            <a:extLst>
              <a:ext uri="{FF2B5EF4-FFF2-40B4-BE49-F238E27FC236}">
                <a16:creationId xmlns:a16="http://schemas.microsoft.com/office/drawing/2014/main" id="{DAE477CC-5A51-DE5E-1E27-B5B8CAE72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2393340"/>
            <a:ext cx="5877745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7091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66DA9-0669-0F41-F5D5-590960B2B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F177D652-10FE-968D-9B2F-CC2D5F0F3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555825"/>
          </a:xfrm>
        </p:spPr>
        <p:txBody>
          <a:bodyPr>
            <a:normAutofit fontScale="90000"/>
          </a:bodyPr>
          <a:lstStyle/>
          <a:p>
            <a:r>
              <a:rPr lang="en-US" dirty="0"/>
              <a:t>Database simulation failed</a:t>
            </a:r>
          </a:p>
        </p:txBody>
      </p:sp>
      <p:sp>
        <p:nvSpPr>
          <p:cNvPr id="43" name="Text Placeholder 42">
            <a:extLst>
              <a:ext uri="{FF2B5EF4-FFF2-40B4-BE49-F238E27FC236}">
                <a16:creationId xmlns:a16="http://schemas.microsoft.com/office/drawing/2014/main" id="{C173444E-2C05-57E3-B68B-F8DE6EAB3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399" y="1771650"/>
            <a:ext cx="6817179" cy="710293"/>
          </a:xfrm>
        </p:spPr>
        <p:txBody>
          <a:bodyPr/>
          <a:lstStyle/>
          <a:p>
            <a:r>
              <a:rPr lang="en-US" dirty="0"/>
              <a:t>Database instance is not running simulated responses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79489463-80EB-E480-4A78-8F1905CF0B73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914399" y="2310493"/>
            <a:ext cx="7494815" cy="2065565"/>
          </a:xfrm>
        </p:spPr>
        <p:txBody>
          <a:bodyPr>
            <a:normAutofit fontScale="85000" lnSpcReduction="10000"/>
          </a:bodyPr>
          <a:lstStyle/>
          <a:p>
            <a:r>
              <a:rPr lang="en-US" sz="3200" b="1" dirty="0"/>
              <a:t>Solution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NCat</a:t>
            </a:r>
            <a:r>
              <a:rPr lang="en-US" dirty="0"/>
              <a:t> was not installed properly when running the script in the instance creation.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the instance is already created, run bash </a:t>
            </a: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dnf</a:t>
            </a:r>
            <a:r>
              <a:rPr lang="en-US" dirty="0"/>
              <a:t> install </a:t>
            </a:r>
            <a:r>
              <a:rPr lang="en-US" dirty="0" err="1"/>
              <a:t>nmap-ncat</a:t>
            </a:r>
            <a:r>
              <a:rPr lang="en-US" dirty="0"/>
              <a:t>  to install the dependency.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solve the issue permanently (create a healthy database instance), modify the </a:t>
            </a:r>
            <a:r>
              <a:rPr lang="en-US" dirty="0" err="1"/>
              <a:t>userdata</a:t>
            </a:r>
            <a:r>
              <a:rPr lang="en-US" dirty="0"/>
              <a:t> script as follows: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0131824-77DA-7E0C-9059-7F19DA79533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29BF18-D7B0-F622-7011-35C5EF8223E2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13</a:t>
            </a:fld>
            <a:endParaRPr lang="en-US" altLang="zh-C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2E2851-89C7-3E2A-AC32-3BB60C52E9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8" y="4425505"/>
            <a:ext cx="4716277" cy="1991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8133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CEC29-2F05-D7E4-A266-08C74BE4F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</p:spPr>
        <p:txBody>
          <a:bodyPr/>
          <a:lstStyle/>
          <a:p>
            <a:r>
              <a:rPr lang="en-US" dirty="0"/>
              <a:t>Cost Analysis</a:t>
            </a:r>
          </a:p>
        </p:txBody>
      </p:sp>
      <p:pic>
        <p:nvPicPr>
          <p:cNvPr id="5" name="Picture Placeholder 4" descr="A person looking at a person who is looking at a computer screen">
            <a:extLst>
              <a:ext uri="{FF2B5EF4-FFF2-40B4-BE49-F238E27FC236}">
                <a16:creationId xmlns:a16="http://schemas.microsoft.com/office/drawing/2014/main" id="{867EED95-1785-2CFF-AB72-C7852C4B1E15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2"/>
          <a:srcRect t="11651" b="11651"/>
          <a:stretch/>
        </p:blipFill>
        <p:spPr>
          <a:xfrm>
            <a:off x="914400" y="539496"/>
            <a:ext cx="5025207" cy="5779008"/>
          </a:xfrm>
        </p:spPr>
      </p:pic>
    </p:spTree>
    <p:extLst>
      <p:ext uri="{BB962C8B-B14F-4D97-AF65-F5344CB8AC3E}">
        <p14:creationId xmlns:p14="http://schemas.microsoft.com/office/powerpoint/2010/main" val="1148227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59F6-9B22-C211-4B4C-A2FD4B914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392386" cy="2103120"/>
          </a:xfrm>
          <a:noFill/>
        </p:spPr>
        <p:txBody>
          <a:bodyPr anchor="b" anchorCtr="0">
            <a:noAutofit/>
          </a:bodyPr>
          <a:lstStyle/>
          <a:p>
            <a:r>
              <a:rPr lang="en-US" dirty="0"/>
              <a:t>Monthly Cost Breakdown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231D8C-5C7D-BFD9-19A4-7628C1400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15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749A9E-07B0-AEEA-7E62-F394FDDBA2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28" r="1602"/>
          <a:stretch>
            <a:fillRect/>
          </a:stretch>
        </p:blipFill>
        <p:spPr>
          <a:xfrm>
            <a:off x="5306786" y="1916559"/>
            <a:ext cx="5359593" cy="4301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630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21E73BA-53B9-C0C1-476A-00736A64A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 anchorCtr="0"/>
          <a:lstStyle/>
          <a:p>
            <a:r>
              <a:rPr lang="en-US" dirty="0"/>
              <a:t>Cost optimization strategies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78180D0-1AB6-8416-0EB1-10648E1A605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5" y="3108960"/>
            <a:ext cx="7833795" cy="310896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Enable auto-scaling to launch only sufficient instances to keep the system working.</a:t>
            </a:r>
          </a:p>
          <a:p>
            <a:r>
              <a:rPr lang="en-US" dirty="0"/>
              <a:t>Add VPC Endpoints for services such as RDS, Systems Manager, CloudWatch to reduce NAT Gateway usage.</a:t>
            </a:r>
          </a:p>
          <a:p>
            <a:r>
              <a:rPr lang="en-US" dirty="0"/>
              <a:t>Apply Saving Plans for stable EC2 workloads to reduce On-demand costs.</a:t>
            </a:r>
          </a:p>
          <a:p>
            <a:r>
              <a:rPr lang="en-US" dirty="0"/>
              <a:t>If acceptable for non-critical workloads, run a Single-AZ RDS instance instead of Multi-AZ (roughly halves the RDS compute cost)</a:t>
            </a:r>
          </a:p>
          <a:p>
            <a:r>
              <a:rPr lang="en-US" dirty="0"/>
              <a:t>Optimize logging retention</a:t>
            </a:r>
          </a:p>
          <a:p>
            <a:r>
              <a:rPr lang="en-US" dirty="0"/>
              <a:t>Revisit instance sizes after collecting 30–60 days of CloudWatch metrics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E4D147-B48C-ADE3-3FEF-627D467699A2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16</a:t>
            </a:fld>
            <a:endParaRPr lang="en-US" altLang="zh-CN" noProof="0" dirty="0"/>
          </a:p>
        </p:txBody>
      </p:sp>
      <p:sp>
        <p:nvSpPr>
          <p:cNvPr id="15" name="Slide Number Placeholder 13">
            <a:extLst>
              <a:ext uri="{FF2B5EF4-FFF2-40B4-BE49-F238E27FC236}">
                <a16:creationId xmlns:a16="http://schemas.microsoft.com/office/drawing/2014/main" id="{55AB7753-4245-72E4-BEDB-33038672BA3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519727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45B99-C486-0D5A-266B-63FD9A566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1ADAA-FCDF-139A-FB6A-84908BACF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382" y="2220686"/>
            <a:ext cx="4845817" cy="3722914"/>
          </a:xfrm>
        </p:spPr>
        <p:txBody>
          <a:bodyPr lIns="0" anchor="t" anchorCtr="0"/>
          <a:lstStyle/>
          <a:p>
            <a:r>
              <a:rPr lang="en-US" dirty="0"/>
              <a:t>Improvements &amp; Next Steps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9A9C721F-1150-07F1-5557-B606079EC7B1}"/>
              </a:ext>
            </a:extLst>
          </p:cNvPr>
          <p:cNvPicPr>
            <a:picLocks noGrp="1" noChangeAspect="1"/>
          </p:cNvPicPr>
          <p:nvPr>
            <p:ph type="pic" sz="quarter" idx="47"/>
          </p:nvPr>
        </p:nvPicPr>
        <p:blipFill>
          <a:blip r:embed="rId2"/>
          <a:srcRect l="17500" r="17500"/>
          <a:stretch>
            <a:fillRect/>
          </a:stretch>
        </p:blipFill>
        <p:spPr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6998099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932CA-B4BF-DF3D-BF05-AC797E94B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56F98315-F512-E3B6-FA1C-57C30F949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571500"/>
            <a:ext cx="7955280" cy="767443"/>
          </a:xfrm>
        </p:spPr>
        <p:txBody>
          <a:bodyPr anchor="b" anchorCtr="0"/>
          <a:lstStyle/>
          <a:p>
            <a:r>
              <a:rPr lang="en-US" dirty="0"/>
              <a:t>Improvements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493B2DD-703A-2F23-608B-828164B71730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5" y="1502229"/>
            <a:ext cx="3568271" cy="4715691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sz="2200" b="1" dirty="0"/>
              <a:t>Short-term</a:t>
            </a:r>
            <a:endParaRPr lang="en-US" b="1" dirty="0"/>
          </a:p>
          <a:p>
            <a:r>
              <a:rPr lang="en-US" dirty="0"/>
              <a:t>Replace the bastion host with AWS Systems Manager Session Manager</a:t>
            </a:r>
          </a:p>
          <a:p>
            <a:pPr marL="585216" lvl="1" indent="0">
              <a:buNone/>
            </a:pPr>
            <a:r>
              <a:rPr lang="en-US" dirty="0"/>
              <a:t>Benefits: No inbound ports, no public IP, IAM-based access, smaller attack surface, no SSH key management</a:t>
            </a:r>
          </a:p>
          <a:p>
            <a:r>
              <a:rPr lang="en-US" dirty="0"/>
              <a:t>Replace database placeholder with RDS Database</a:t>
            </a:r>
          </a:p>
          <a:p>
            <a:r>
              <a:rPr lang="en-US" dirty="0"/>
              <a:t>Update health checks in application to monitor CPU Utilization</a:t>
            </a:r>
          </a:p>
          <a:p>
            <a:r>
              <a:rPr lang="en-US" dirty="0"/>
              <a:t>Add Logging: CloudTrail, ALB Access Logs, NAT Gateway Metrics to improve troubleshooting</a:t>
            </a:r>
          </a:p>
          <a:p>
            <a:r>
              <a:rPr lang="en-US" dirty="0"/>
              <a:t>Remove unused rules in Security Groups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A33E52F-6E5C-AC89-AD3D-9EDCF215CA44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18</a:t>
            </a:fld>
            <a:endParaRPr lang="en-US" altLang="zh-CN" noProof="0" dirty="0"/>
          </a:p>
        </p:txBody>
      </p:sp>
      <p:sp>
        <p:nvSpPr>
          <p:cNvPr id="15" name="Slide Number Placeholder 13">
            <a:extLst>
              <a:ext uri="{FF2B5EF4-FFF2-40B4-BE49-F238E27FC236}">
                <a16:creationId xmlns:a16="http://schemas.microsoft.com/office/drawing/2014/main" id="{69DEFAC5-91A3-28CF-C7CB-29DE8D6C77A6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3" name="Text Placeholder 13">
            <a:extLst>
              <a:ext uri="{FF2B5EF4-FFF2-40B4-BE49-F238E27FC236}">
                <a16:creationId xmlns:a16="http://schemas.microsoft.com/office/drawing/2014/main" id="{8AC965CD-806B-771E-A059-A6EAFDB30C8A}"/>
              </a:ext>
            </a:extLst>
          </p:cNvPr>
          <p:cNvSpPr txBox="1">
            <a:spLocks/>
          </p:cNvSpPr>
          <p:nvPr/>
        </p:nvSpPr>
        <p:spPr>
          <a:xfrm>
            <a:off x="7625898" y="1497719"/>
            <a:ext cx="3568271" cy="47156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512064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rabi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109728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lphaL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64592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romanLcPeriod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2194560" indent="-512064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+mj-lt"/>
              <a:buAutoNum type="arabicParenR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347472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+mj-lt"/>
              <a:buNone/>
            </a:pPr>
            <a:r>
              <a:rPr lang="en-US" sz="2200" b="1" dirty="0"/>
              <a:t>Long-term</a:t>
            </a:r>
          </a:p>
          <a:p>
            <a:r>
              <a:rPr lang="en-US" dirty="0"/>
              <a:t>Add VPC Endpoints: Create Interface/Gateway Endpoints for services like S3, DynamoDB, Systems Manager, Secrets Manager</a:t>
            </a:r>
          </a:p>
          <a:p>
            <a:pPr marL="585216" lvl="1" indent="0">
              <a:buNone/>
            </a:pPr>
            <a:r>
              <a:rPr lang="en-US" dirty="0"/>
              <a:t>Benefits: Less NAT Gateway Traffic, Lower cost, private AWS Service access</a:t>
            </a:r>
          </a:p>
          <a:p>
            <a:r>
              <a:rPr lang="en-US" dirty="0"/>
              <a:t>Add Auto-scaling </a:t>
            </a:r>
            <a:r>
              <a:rPr lang="en-US" dirty="0" err="1"/>
              <a:t>por</a:t>
            </a:r>
            <a:r>
              <a:rPr lang="en-US" dirty="0"/>
              <a:t> application tier</a:t>
            </a:r>
          </a:p>
          <a:p>
            <a:r>
              <a:rPr lang="en-US" dirty="0"/>
              <a:t>Increase security with Zero Trust/Least privilege principle: IAM authentication, Session Manager, service-to-service authentication.</a:t>
            </a:r>
          </a:p>
          <a:p>
            <a:r>
              <a:rPr lang="en-US" dirty="0"/>
              <a:t>For stricter security requirements, use services like AWS Network Firewall, Stateful Inspection, Domain filtering</a:t>
            </a:r>
          </a:p>
        </p:txBody>
      </p:sp>
    </p:spTree>
    <p:extLst>
      <p:ext uri="{BB962C8B-B14F-4D97-AF65-F5344CB8AC3E}">
        <p14:creationId xmlns:p14="http://schemas.microsoft.com/office/powerpoint/2010/main" val="35128893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97D6C-2B37-B9EF-D552-22C2B7994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067A5-FA5B-84D0-78B4-35C2DF718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</p:spPr>
        <p:txBody>
          <a:bodyPr/>
          <a:lstStyle/>
          <a:p>
            <a:r>
              <a:rPr lang="en-US" dirty="0"/>
              <a:t>Live Demo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1AD50C07-1EA2-EBD3-7FBF-A7F33819D3BB}"/>
              </a:ext>
            </a:extLst>
          </p:cNvPr>
          <p:cNvPicPr>
            <a:picLocks noGrp="1" noChangeAspect="1"/>
          </p:cNvPicPr>
          <p:nvPr>
            <p:ph type="pic" sz="quarter" idx="48"/>
          </p:nvPr>
        </p:nvPicPr>
        <p:blipFill>
          <a:blip r:embed="rId2"/>
          <a:srcRect l="19133" r="19133"/>
          <a:stretch>
            <a:fillRect/>
          </a:stretch>
        </p:blipFill>
        <p:spPr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10316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6655F-266F-392E-3132-1F6021FF9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D7D0B-B013-B95B-C6DD-C9BCB763B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7204" y="2041071"/>
            <a:ext cx="1577591" cy="2775857"/>
          </a:xfrm>
        </p:spPr>
        <p:txBody>
          <a:bodyPr/>
          <a:lstStyle/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28659623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B993E4D5-4AD0-4740-096D-6822944C8FF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</p:spPr>
        <p:txBody>
          <a:bodyPr/>
          <a:lstStyle/>
          <a:p>
            <a:r>
              <a:rPr lang="en-US" dirty="0"/>
              <a:t>Julio Cesar Aldana Almanza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4" id="{FA821E7E-D625-4DCD-A30E-3216B54C8383}" vid="{DE28BE6C-8054-44B2-A92D-A1CAFC256BDB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8DB3C62-858A-4A01-AFEF-21E0BB8CE26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897CAE-455D-42C9-A951-0C21BC1225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{7BEB8980-4EAD-439C-A342-2CA3C506FA36}TF63aebcec-8e39-4664-940a-dd6c2f00c54d020a9832_win32-3cdd3ee32610</Template>
  <TotalTime>58</TotalTime>
  <Words>636</Words>
  <Application>Microsoft Office PowerPoint</Application>
  <PresentationFormat>Widescreen</PresentationFormat>
  <Paragraphs>119</Paragraphs>
  <Slides>21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等线</vt:lpstr>
      <vt:lpstr>Abadi</vt:lpstr>
      <vt:lpstr>Arial</vt:lpstr>
      <vt:lpstr>Calibri</vt:lpstr>
      <vt:lpstr>Calibri Light</vt:lpstr>
      <vt:lpstr>Posterama</vt:lpstr>
      <vt:lpstr>Posterama Text SemiBold</vt:lpstr>
      <vt:lpstr>Custom</vt:lpstr>
      <vt:lpstr>Three-Tier Cloud Architecture Deployment</vt:lpstr>
      <vt:lpstr>Agenda </vt:lpstr>
      <vt:lpstr>Three-Tier Architecture</vt:lpstr>
      <vt:lpstr>Network strategy</vt:lpstr>
      <vt:lpstr>Traffic Flow</vt:lpstr>
      <vt:lpstr>Security Groups</vt:lpstr>
      <vt:lpstr>Security Groups</vt:lpstr>
      <vt:lpstr>Three-Tier Architecture</vt:lpstr>
      <vt:lpstr>Challenges &amp; Solutions</vt:lpstr>
      <vt:lpstr>Application Instance stars unhealthy</vt:lpstr>
      <vt:lpstr>Application not running on restart</vt:lpstr>
      <vt:lpstr>Host key verification failed</vt:lpstr>
      <vt:lpstr>Database simulation failed</vt:lpstr>
      <vt:lpstr>Cost Analysis</vt:lpstr>
      <vt:lpstr>Monthly Cost Breakdown</vt:lpstr>
      <vt:lpstr>Cost optimization strategies</vt:lpstr>
      <vt:lpstr>Improvements &amp; Next Steps</vt:lpstr>
      <vt:lpstr>Improvements</vt:lpstr>
      <vt:lpstr>Live Demo</vt:lpstr>
      <vt:lpstr>Q&amp;A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OSCAR ALEXIS ALDANA ALMANZA</dc:creator>
  <cp:lastModifiedBy>OSCAR ALEXIS ALDANA ALMANZA</cp:lastModifiedBy>
  <cp:revision>5</cp:revision>
  <dcterms:created xsi:type="dcterms:W3CDTF">2026-07-25T15:37:27Z</dcterms:created>
  <dcterms:modified xsi:type="dcterms:W3CDTF">2026-07-25T16:35:46Z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