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92" r:id="rId5"/>
    <p:sldId id="299" r:id="rId6"/>
    <p:sldId id="297" r:id="rId7"/>
    <p:sldId id="261" r:id="rId8"/>
    <p:sldId id="301" r:id="rId9"/>
    <p:sldId id="304" r:id="rId10"/>
    <p:sldId id="302" r:id="rId11"/>
    <p:sldId id="298" r:id="rId12"/>
    <p:sldId id="293" r:id="rId13"/>
    <p:sldId id="305" r:id="rId14"/>
    <p:sldId id="306" r:id="rId15"/>
    <p:sldId id="307" r:id="rId16"/>
    <p:sldId id="300" r:id="rId17"/>
    <p:sldId id="269" r:id="rId18"/>
    <p:sldId id="295" r:id="rId19"/>
    <p:sldId id="308" r:id="rId20"/>
    <p:sldId id="309" r:id="rId21"/>
    <p:sldId id="310" r:id="rId22"/>
    <p:sldId id="311" r:id="rId23"/>
    <p:sldId id="28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4839" autoAdjust="0"/>
  </p:normalViewPr>
  <p:slideViewPr>
    <p:cSldViewPr snapToGrid="0" showGuides="1">
      <p:cViewPr varScale="1">
        <p:scale>
          <a:sx n="117" d="100"/>
          <a:sy n="117" d="100"/>
        </p:scale>
        <p:origin x="120" y="45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A605-D804-5DC4-B471-C488D036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E32C0-B3DD-8E05-5273-816724E86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6B3AD-B049-7271-D5F1-0AAFBDDFE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167A2-8E28-0C16-9C1D-67479BEEE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21373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9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38E2D-A508-A821-BE22-ABB2627F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764AC-F18F-E0FD-3820-852F2F00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5C7A2-87A0-D7EB-ABED-FC964FEB5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59A5-0850-8316-A37A-8C51143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968302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C57E-D31E-5FAB-7A4B-94D6AD67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618C3-7C46-206F-D24E-A535F6A16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C737E-5128-00A0-90AD-B63A8FE0C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D3463-40E1-6341-1352-414FCC1C0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385821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F7BD8-E67A-7DCE-39E4-2AF468ED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9D9F9-74FD-A8B8-FB2A-CBD54096E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351FF-EBC1-52D8-0389-DBAD1A95B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1F3EA-1B94-0962-D321-F871FF9984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275193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3" r:id="rId9"/>
    <p:sldLayoutId id="2147483653" r:id="rId10"/>
    <p:sldLayoutId id="2147483663" r:id="rId11"/>
    <p:sldLayoutId id="214748366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fif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altLang="zh-CN" dirty="0"/>
              <a:t>Three-Tier Cloud Architecture Deployment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Overview</a:t>
            </a:r>
          </a:p>
          <a:p>
            <a:r>
              <a:rPr lang="en-US" dirty="0"/>
              <a:t>Challenges &amp; Solutions</a:t>
            </a:r>
          </a:p>
          <a:p>
            <a:r>
              <a:rPr lang="en-US" dirty="0"/>
              <a:t>Cost Analysis</a:t>
            </a:r>
          </a:p>
          <a:p>
            <a:r>
              <a:rPr lang="en-US" dirty="0"/>
              <a:t>Improvements &amp; Next Steps</a:t>
            </a:r>
          </a:p>
          <a:p>
            <a:r>
              <a:rPr lang="en-US" dirty="0"/>
              <a:t>Live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Virtual Private Cloud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Network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922179"/>
            <a:ext cx="5029200" cy="3383280"/>
          </a:xfrm>
          <a:noFill/>
        </p:spPr>
        <p:txBody>
          <a:bodyPr>
            <a:normAutofit fontScale="77500" lnSpcReduction="20000"/>
          </a:bodyPr>
          <a:lstStyle/>
          <a:p>
            <a:r>
              <a:rPr lang="en-US" dirty="0"/>
              <a:t>VPC: 10.0.0.0/16</a:t>
            </a:r>
          </a:p>
          <a:p>
            <a:r>
              <a:rPr lang="en-US" dirty="0"/>
              <a:t>Presentation Subnets (Public): </a:t>
            </a:r>
          </a:p>
          <a:p>
            <a:pPr lvl="1"/>
            <a:r>
              <a:rPr lang="en-US" dirty="0"/>
              <a:t>AZ 1: 10.0.1.0/24</a:t>
            </a:r>
          </a:p>
          <a:p>
            <a:pPr lvl="1"/>
            <a:r>
              <a:rPr lang="en-US" dirty="0"/>
              <a:t>AZ 2: 10.0.2.0/24</a:t>
            </a:r>
          </a:p>
          <a:p>
            <a:r>
              <a:rPr lang="en-US" dirty="0"/>
              <a:t>Application Subnets (Private):</a:t>
            </a:r>
          </a:p>
          <a:p>
            <a:pPr lvl="1"/>
            <a:r>
              <a:rPr lang="en-US" dirty="0"/>
              <a:t>AZ 1: 10.0.11.0/24</a:t>
            </a:r>
          </a:p>
          <a:p>
            <a:pPr lvl="1"/>
            <a:r>
              <a:rPr lang="en-US" dirty="0"/>
              <a:t>AZ 2: 10.0.12.0/24</a:t>
            </a:r>
          </a:p>
          <a:p>
            <a:r>
              <a:rPr lang="en-US" dirty="0"/>
              <a:t> Data Subnets (Private): </a:t>
            </a:r>
          </a:p>
          <a:p>
            <a:pPr lvl="1"/>
            <a:r>
              <a:rPr lang="en-US" dirty="0"/>
              <a:t>AZ 1: 10.0.21.0/24</a:t>
            </a:r>
          </a:p>
          <a:p>
            <a:pPr lvl="1"/>
            <a:r>
              <a:rPr lang="en-US" dirty="0"/>
              <a:t>AZ 2: 10.0.22.0/24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FB171-B2A9-94CB-0CEB-EE4F066B8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973" y="1092441"/>
            <a:ext cx="4725788" cy="540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428-5DA9-9D27-C7B1-DAAE5CC01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6C88-2852-9248-FA45-F4B0884A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Traffic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B58C8-82CC-DC18-57AF-37A293472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815693" cy="3383280"/>
          </a:xfrm>
          <a:noFill/>
        </p:spPr>
        <p:txBody>
          <a:bodyPr>
            <a:normAutofit fontScale="70000" lnSpcReduction="20000"/>
          </a:bodyPr>
          <a:lstStyle/>
          <a:p>
            <a:r>
              <a:rPr lang="en-US" dirty="0"/>
              <a:t>Internet Gateway: allow traffic from outside to VPC</a:t>
            </a:r>
          </a:p>
          <a:p>
            <a:r>
              <a:rPr lang="en-US" dirty="0"/>
              <a:t>Presentation Tier: </a:t>
            </a:r>
          </a:p>
          <a:p>
            <a:pPr lvl="1"/>
            <a:r>
              <a:rPr lang="en-US" dirty="0"/>
              <a:t>Allows HTTP requests from IGW (Port 80)</a:t>
            </a:r>
          </a:p>
          <a:p>
            <a:pPr lvl="1"/>
            <a:r>
              <a:rPr lang="en-US" dirty="0"/>
              <a:t>NAT Gateway attached to allow outbound requests from app-tier</a:t>
            </a:r>
          </a:p>
          <a:p>
            <a:r>
              <a:rPr lang="en-US" dirty="0"/>
              <a:t>Application Tier:</a:t>
            </a:r>
          </a:p>
          <a:p>
            <a:pPr lvl="1"/>
            <a:r>
              <a:rPr lang="en-US" dirty="0"/>
              <a:t>Receives HTTP request from presentation tier only (Port 8080)</a:t>
            </a:r>
          </a:p>
          <a:p>
            <a:pPr lvl="1"/>
            <a:r>
              <a:rPr lang="en-US" dirty="0"/>
              <a:t>Outbound traffic allowed through NAT Gateway for package downloads</a:t>
            </a:r>
          </a:p>
          <a:p>
            <a:r>
              <a:rPr lang="en-US" dirty="0"/>
              <a:t>Data Tier </a:t>
            </a:r>
          </a:p>
          <a:p>
            <a:pPr lvl="1"/>
            <a:r>
              <a:rPr lang="en-US" dirty="0"/>
              <a:t>Isolated from Outside: receives request from app tier only (MySQL:3306 and PostgreSQL:5432)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CF15-AA86-6BD2-3A83-8ED4DA24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34DF4E-1DAF-4B6A-47A8-28A39899E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492" y="1133487"/>
            <a:ext cx="3415393" cy="5277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128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F49B-EE1B-BAB6-8612-EA44ED27D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C12879A3-47BD-CD78-1195-ED1680E2A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149" y="556961"/>
            <a:ext cx="7132320" cy="697758"/>
          </a:xfrm>
        </p:spPr>
        <p:txBody>
          <a:bodyPr/>
          <a:lstStyle/>
          <a:p>
            <a:r>
              <a:rPr lang="en-US" dirty="0"/>
              <a:t>Security Groups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2E83232-D5BF-7E07-1335-ABF53BF595F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CCF78-FE0E-3118-C10D-CC142112204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9807D6-2551-24A2-C6DD-42FDACC06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570" y="1406512"/>
            <a:ext cx="3663393" cy="42475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F610C4-EA0C-BB1D-4A95-C9B1B526B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03" y="1449218"/>
            <a:ext cx="4134426" cy="98507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5068DA-4FFF-C74D-2191-A247BFE61B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401" y="2628788"/>
            <a:ext cx="4134427" cy="14778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464B5B-FC1C-6257-6C6C-D9190C2F5E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330" y="2628788"/>
            <a:ext cx="3338737" cy="192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9D367B-F8DE-0D72-68E0-BBD1617249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401" y="4301124"/>
            <a:ext cx="4134427" cy="172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6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782CA-FA12-1472-7AAF-35E21747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4419-38A3-608A-8ACA-ED8C39C2B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18269"/>
            <a:ext cx="4364334" cy="4152180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452B1-6187-1965-51E1-B3B69C249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423807" cy="3383280"/>
          </a:xfrm>
          <a:noFill/>
        </p:spPr>
        <p:txBody>
          <a:bodyPr>
            <a:normAutofit lnSpcReduction="10000"/>
          </a:bodyPr>
          <a:lstStyle/>
          <a:p>
            <a:r>
              <a:rPr lang="en-US" dirty="0"/>
              <a:t>Presentation Subnets </a:t>
            </a:r>
          </a:p>
          <a:p>
            <a:r>
              <a:rPr lang="en-US" dirty="0"/>
              <a:t>Application Subnets</a:t>
            </a:r>
          </a:p>
          <a:p>
            <a:r>
              <a:rPr lang="en-US" dirty="0"/>
              <a:t>Data Subnets</a:t>
            </a:r>
          </a:p>
          <a:p>
            <a:r>
              <a:rPr lang="en-US" dirty="0"/>
              <a:t>Bastion</a:t>
            </a:r>
          </a:p>
          <a:p>
            <a:r>
              <a:rPr lang="en-US" dirty="0"/>
              <a:t>Internet Gateway</a:t>
            </a:r>
          </a:p>
          <a:p>
            <a:r>
              <a:rPr lang="en-US" dirty="0"/>
              <a:t>NAT Gateway</a:t>
            </a:r>
          </a:p>
          <a:p>
            <a:r>
              <a:rPr lang="en-US" dirty="0"/>
              <a:t>Load Balancer</a:t>
            </a:r>
          </a:p>
          <a:p>
            <a:r>
              <a:rPr lang="en-US" dirty="0"/>
              <a:t>Target Group</a:t>
            </a:r>
          </a:p>
          <a:p>
            <a:endParaRPr lang="en-US" dirty="0"/>
          </a:p>
          <a:p>
            <a:pPr marL="384048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59449-18EC-7C50-DDCE-160B3BF37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8F651B-782B-D79F-E1AF-99929B73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421" y="602198"/>
            <a:ext cx="6439482" cy="570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31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A61EC-5F42-6AB8-DF35-480F0702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Challenges &amp; Solutions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2C499B3D-83D7-93D8-87CB-D304865A3244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21800" r="218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3508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Instance stars unhealthy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server is marked as unhealthy at the first start.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8466807-A2DA-EC5D-ACDE-B83D6F7169EA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1020535" y="4686300"/>
            <a:ext cx="8254093" cy="1632857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npm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install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pg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1600" dirty="0"/>
              <a:t>to install the dependency needed.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chmod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777 app.log </a:t>
            </a:r>
            <a:r>
              <a:rPr lang="en-US" sz="1600" dirty="0"/>
              <a:t>to allow edition of app.log file.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 the application using the command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nohup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node server.js &gt; app.log 2&gt;&amp;1 &amp;.</a:t>
            </a:r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11349-552F-AFBF-5390-82AC959C3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23" y="2171700"/>
            <a:ext cx="5312741" cy="24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2FC7-AB21-B039-F0FB-3EF1974C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B1D53485-2BD3-0057-9173-E0DA839FF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not running on restart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9FBC47D9-4E5A-0AD4-1ED9-F4B20089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is not running again after restarting. A manual restart of the application is needed..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3C7881A2-F1A1-4C69-83E9-E23DC8787D0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530928"/>
            <a:ext cx="8360229" cy="555825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848E6BFE-2BB3-B86F-2060-1C16CDB36DBC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F8E237-9955-B45F-452A-EDC02FAFAC8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4C4A89-760F-5EC9-383D-278B5186D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135738"/>
            <a:ext cx="6457951" cy="330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60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86378-DCF5-D0B3-3573-F75CB840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3A65C8D5-10F0-4AA7-16FB-ABB5CAB91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Host key verification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C3D1BF0-D6C8-91EF-CA1F-B841F2248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connection through bastion refused due to warning "Remote host identification has changed!"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AF78A4B-325C-B4DE-8BF1-512F709C0F35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4939393"/>
            <a:ext cx="8360229" cy="1510393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r>
              <a:rPr lang="en-US" dirty="0"/>
              <a:t>Run 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ssh-keygen -R DB-PRIVATE-IP  </a:t>
            </a:r>
            <a:r>
              <a:rPr lang="en-US" dirty="0"/>
              <a:t>to remove any key that the </a:t>
            </a:r>
            <a:r>
              <a:rPr lang="en-US" dirty="0" err="1"/>
              <a:t>db</a:t>
            </a:r>
            <a:r>
              <a:rPr lang="en-US" dirty="0"/>
              <a:t> IP address may have attached.</a:t>
            </a:r>
            <a:endParaRPr lang="en-US" sz="3200" b="1" dirty="0"/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5D0B3CCF-4FC9-C757-CD82-CDFFD44AC6D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562DED-B4F1-14AE-58D0-60F327E13763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pic>
        <p:nvPicPr>
          <p:cNvPr id="3" name="Picture 2" descr="ts-host-key-changed.png">
            <a:extLst>
              <a:ext uri="{FF2B5EF4-FFF2-40B4-BE49-F238E27FC236}">
                <a16:creationId xmlns:a16="http://schemas.microsoft.com/office/drawing/2014/main" id="{DAE477CC-5A51-DE5E-1E27-B5B8CAE72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393340"/>
            <a:ext cx="5877745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709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6DA9-0669-0F41-F5D5-590960B2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F177D652-10FE-968D-9B2F-CC2D5F0F3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simulation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C173444E-2C05-57E3-B68B-F8DE6EAB3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instance is not running simulated responses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9489463-80EB-E480-4A78-8F1905CF0B7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310493"/>
            <a:ext cx="7494815" cy="2065565"/>
          </a:xfrm>
        </p:spPr>
        <p:txBody>
          <a:bodyPr>
            <a:normAutofit fontScale="85000" lnSpcReduction="10000"/>
          </a:bodyPr>
          <a:lstStyle/>
          <a:p>
            <a:r>
              <a:rPr lang="en-US" sz="3200" b="1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NCat</a:t>
            </a:r>
            <a:r>
              <a:rPr lang="en-US" dirty="0"/>
              <a:t> was not installed properly when running the script in the instance creation.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 instance is already created, run bash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dnf</a:t>
            </a:r>
            <a:r>
              <a:rPr lang="en-US" dirty="0"/>
              <a:t> install </a:t>
            </a:r>
            <a:r>
              <a:rPr lang="en-US" dirty="0" err="1"/>
              <a:t>nmap-ncat</a:t>
            </a:r>
            <a:r>
              <a:rPr lang="en-US" dirty="0"/>
              <a:t>  to install the dependency.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solve the issue permanently (create a healthy database instance), modify the </a:t>
            </a:r>
            <a:r>
              <a:rPr lang="en-US" dirty="0" err="1"/>
              <a:t>userdata</a:t>
            </a:r>
            <a:r>
              <a:rPr lang="en-US" dirty="0"/>
              <a:t> script as follows: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0131824-77DA-7E0C-9059-7F19DA7953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9BF18-D7B0-F622-7011-35C5EF8223E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12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E2851-89C7-3E2A-AC32-3BB60C52E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4425505"/>
            <a:ext cx="4716277" cy="199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1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Cost Analysis</a:t>
            </a:r>
          </a:p>
        </p:txBody>
      </p:sp>
      <p:pic>
        <p:nvPicPr>
          <p:cNvPr id="5" name="Picture Placeholder 4" descr="A person looking at a person who is looking at a computer screen">
            <a:extLst>
              <a:ext uri="{FF2B5EF4-FFF2-40B4-BE49-F238E27FC236}">
                <a16:creationId xmlns:a16="http://schemas.microsoft.com/office/drawing/2014/main" id="{867EED95-1785-2CFF-AB72-C7852C4B1E15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t="11651" b="11651"/>
          <a:stretch/>
        </p:blipFill>
        <p:spPr>
          <a:xfrm>
            <a:off x="914400" y="539496"/>
            <a:ext cx="5025207" cy="5779008"/>
          </a:xfrm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92386" cy="2103120"/>
          </a:xfrm>
          <a:noFill/>
        </p:spPr>
        <p:txBody>
          <a:bodyPr anchor="b" anchorCtr="0">
            <a:noAutofit/>
          </a:bodyPr>
          <a:lstStyle/>
          <a:p>
            <a:r>
              <a:rPr lang="en-US" dirty="0"/>
              <a:t>Monthly Cost Breakdown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14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49A9E-07B0-AEEA-7E62-F394FDDBA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28" r="1602"/>
          <a:stretch>
            <a:fillRect/>
          </a:stretch>
        </p:blipFill>
        <p:spPr>
          <a:xfrm>
            <a:off x="5306786" y="1916559"/>
            <a:ext cx="5359593" cy="430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 anchorCtr="0"/>
          <a:lstStyle/>
          <a:p>
            <a:r>
              <a:rPr lang="en-US" dirty="0"/>
              <a:t>Cost optimization strategies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78180D0-1AB6-8416-0EB1-10648E1A605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3108960"/>
            <a:ext cx="7833795" cy="3108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Enable auto-scaling to launch only sufficient instances to keep the system working.</a:t>
            </a:r>
          </a:p>
          <a:p>
            <a:r>
              <a:rPr lang="en-US" dirty="0"/>
              <a:t>Add VPC Endpoints for services such as RDS, Systems Manager, CloudWatch to reduce NAT Gateway usage.</a:t>
            </a:r>
          </a:p>
          <a:p>
            <a:r>
              <a:rPr lang="en-US" dirty="0"/>
              <a:t>Apply Saving Plans for stable EC2 workloads to reduce On-demand costs.</a:t>
            </a:r>
          </a:p>
          <a:p>
            <a:r>
              <a:rPr lang="en-US" dirty="0"/>
              <a:t>If acceptable for non-critical workloads, run a Single-AZ RDS instance instead of Multi-AZ (roughly halves the RDS compute cost)</a:t>
            </a:r>
          </a:p>
          <a:p>
            <a:r>
              <a:rPr lang="en-US" dirty="0"/>
              <a:t>Optimize logging retention</a:t>
            </a:r>
          </a:p>
          <a:p>
            <a:r>
              <a:rPr lang="en-US" dirty="0"/>
              <a:t>Revisit instance sizes after collecting 30–60 days of CloudWatch metrics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15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Improvements &amp; Next Steps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A9C721F-1150-07F1-5557-B606079EC7B1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17500" r="175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6F98315-F512-E3B6-FA1C-57C30F949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571500"/>
            <a:ext cx="7955280" cy="767443"/>
          </a:xfrm>
        </p:spPr>
        <p:txBody>
          <a:bodyPr anchor="b" anchorCtr="0"/>
          <a:lstStyle/>
          <a:p>
            <a:r>
              <a:rPr lang="en-US" dirty="0"/>
              <a:t>Improvements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b="1" dirty="0"/>
              <a:t>Short-term</a:t>
            </a:r>
            <a:endParaRPr lang="en-US" b="1" dirty="0"/>
          </a:p>
          <a:p>
            <a:r>
              <a:rPr lang="en-US" dirty="0"/>
              <a:t>Replace the bastion host with AWS Systems Manager Session Manager</a:t>
            </a:r>
          </a:p>
          <a:p>
            <a:r>
              <a:rPr lang="en-US" dirty="0"/>
              <a:t>Replace database placeholder with RDS Database</a:t>
            </a:r>
          </a:p>
          <a:p>
            <a:r>
              <a:rPr lang="en-US" dirty="0"/>
              <a:t>Update health checks in application to monitor CPU Utilization</a:t>
            </a:r>
          </a:p>
          <a:p>
            <a:r>
              <a:rPr lang="en-US" dirty="0"/>
              <a:t>Add Logging: CloudTrail, ALB Access Logs, NAT Gateway Metrics to improve troubleshooting</a:t>
            </a:r>
          </a:p>
          <a:p>
            <a:r>
              <a:rPr lang="en-US" dirty="0"/>
              <a:t>Remove unused rules in Security Groups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17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Long-term</a:t>
            </a:r>
          </a:p>
          <a:p>
            <a:r>
              <a:rPr lang="en-US" dirty="0"/>
              <a:t>Add VPC Endpoints: Create Interface/Gateway Endpoints for services like S3, DynamoDB, Systems Manager, Secrets Manager</a:t>
            </a:r>
          </a:p>
          <a:p>
            <a:r>
              <a:rPr lang="en-US" dirty="0"/>
              <a:t>Add </a:t>
            </a:r>
            <a:r>
              <a:rPr lang="en-US"/>
              <a:t>Auto-scaling </a:t>
            </a:r>
            <a:r>
              <a:rPr lang="en-US" dirty="0"/>
              <a:t>f</a:t>
            </a:r>
            <a:r>
              <a:rPr lang="en-US"/>
              <a:t>or </a:t>
            </a:r>
            <a:r>
              <a:rPr lang="en-US" dirty="0"/>
              <a:t>application tier</a:t>
            </a:r>
          </a:p>
          <a:p>
            <a:r>
              <a:rPr lang="en-US" dirty="0"/>
              <a:t>Increase security with Zero Trust/Least privilege principle: IAM authentication, Session Manager, service-to-service authentication.</a:t>
            </a:r>
          </a:p>
          <a:p>
            <a:r>
              <a:rPr lang="en-US" dirty="0"/>
              <a:t>For stricter security requirements, use services like AWS Network Firewall, Stateful Inspection, Domain filtering</a:t>
            </a:r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58</TotalTime>
  <Words>598</Words>
  <Application>Microsoft Office PowerPoint</Application>
  <PresentationFormat>Widescreen</PresentationFormat>
  <Paragraphs>115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等线</vt:lpstr>
      <vt:lpstr>Abadi</vt:lpstr>
      <vt:lpstr>Arial</vt:lpstr>
      <vt:lpstr>Calibri</vt:lpstr>
      <vt:lpstr>Calibri Light</vt:lpstr>
      <vt:lpstr>Posterama</vt:lpstr>
      <vt:lpstr>Posterama Text SemiBold</vt:lpstr>
      <vt:lpstr>Custom</vt:lpstr>
      <vt:lpstr>Three-Tier Cloud Architecture Deployment</vt:lpstr>
      <vt:lpstr>Agenda </vt:lpstr>
      <vt:lpstr>Three-Tier Architecture</vt:lpstr>
      <vt:lpstr>Network strategy</vt:lpstr>
      <vt:lpstr>Traffic Flow</vt:lpstr>
      <vt:lpstr>Security Groups</vt:lpstr>
      <vt:lpstr>Three-Tier Architecture</vt:lpstr>
      <vt:lpstr>Challenges &amp; Solutions</vt:lpstr>
      <vt:lpstr>Application Instance stars unhealthy</vt:lpstr>
      <vt:lpstr>Application not running on restart</vt:lpstr>
      <vt:lpstr>Host key verification failed</vt:lpstr>
      <vt:lpstr>Database simulation failed</vt:lpstr>
      <vt:lpstr>Cost Analysis</vt:lpstr>
      <vt:lpstr>Monthly Cost Breakdown</vt:lpstr>
      <vt:lpstr>Cost optimization strategies</vt:lpstr>
      <vt:lpstr>Improvements &amp; Next Steps</vt:lpstr>
      <vt:lpstr>Improvements</vt:lpstr>
      <vt:lpstr>Live Demo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8</cp:revision>
  <dcterms:created xsi:type="dcterms:W3CDTF">2026-07-25T15:37:27Z</dcterms:created>
  <dcterms:modified xsi:type="dcterms:W3CDTF">2026-07-27T12:04:52Z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